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8000663" cy="25199975"/>
  <p:notesSz cx="25199975" cy="180006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EA5CB-853E-2F6C-3E81-604AAFF6A173}" v="1" dt="2026-10-19T19:39:31.280"/>
    <p1510:client id="{B2F9FAD1-A53E-80B8-A1B7-816A4DB14F25}" v="1" dt="2026-10-19T19:44:19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3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ola Romero Ramos" userId="S::apromeror@ucompensar.edu.co::9017b358-3c3d-4c8a-98fa-adaf005d4aaf" providerId="AD" clId="Web-{B2F9FAD1-A53E-80B8-A1B7-816A4DB14F25}"/>
    <pc:docChg chg="modSld">
      <pc:chgData name="Andrea Paola Romero Ramos" userId="S::apromeror@ucompensar.edu.co::9017b358-3c3d-4c8a-98fa-adaf005d4aaf" providerId="AD" clId="Web-{B2F9FAD1-A53E-80B8-A1B7-816A4DB14F25}" dt="2026-10-19T19:44:19.062" v="0"/>
      <pc:docMkLst>
        <pc:docMk/>
      </pc:docMkLst>
      <pc:sldChg chg="mod modShow">
        <pc:chgData name="Andrea Paola Romero Ramos" userId="S::apromeror@ucompensar.edu.co::9017b358-3c3d-4c8a-98fa-adaf005d4aaf" providerId="AD" clId="Web-{B2F9FAD1-A53E-80B8-A1B7-816A4DB14F25}" dt="2026-10-19T19:44:19.062" v="0"/>
        <pc:sldMkLst>
          <pc:docMk/>
          <pc:sldMk cId="0" sldId="256"/>
        </pc:sldMkLst>
      </pc:sldChg>
    </pc:docChg>
  </pc:docChgLst>
  <pc:docChgLst>
    <pc:chgData name="Andrea Paola Romero Ramos" userId="S::apromeror@ucompensar.edu.co::9017b358-3c3d-4c8a-98fa-adaf005d4aaf" providerId="AD" clId="Web-{A81EA5CB-853E-2F6C-3E81-604AAFF6A173}"/>
    <pc:docChg chg="modSld">
      <pc:chgData name="Andrea Paola Romero Ramos" userId="S::apromeror@ucompensar.edu.co::9017b358-3c3d-4c8a-98fa-adaf005d4aaf" providerId="AD" clId="Web-{A81EA5CB-853E-2F6C-3E81-604AAFF6A173}" dt="2026-10-19T19:39:31.280" v="0"/>
      <pc:docMkLst>
        <pc:docMk/>
      </pc:docMkLst>
      <pc:sldChg chg="mod modShow">
        <pc:chgData name="Andrea Paola Romero Ramos" userId="S::apromeror@ucompensar.edu.co::9017b358-3c3d-4c8a-98fa-adaf005d4aaf" providerId="AD" clId="Web-{A81EA5CB-853E-2F6C-3E81-604AAFF6A173}" dt="2026-10-19T19:39:31.280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29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10" Type="http://schemas.openxmlformats.org/officeDocument/2006/relationships/image" Target="../media/dai_dashboard.png"/><Relationship Id="rId11" Type="http://schemas.openxmlformats.org/officeDocument/2006/relationships/image" Target="../media/dai_busqueda.png"/><Relationship Id="rId12" Type="http://schemas.openxmlformats.org/officeDocument/2006/relationships/image" Target="../media/dai_logi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enzo blanco"/>
          <p:cNvSpPr/>
          <p:nvPr/>
        </p:nvSpPr>
        <p:spPr>
          <a:xfrm>
            <a:off x="786384" y="2715768"/>
            <a:ext cx="16422624" cy="20299680"/>
          </a:xfrm>
          <a:prstGeom prst="roundRect">
            <a:avLst>
              <a:gd name="adj" fmla="val 3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Banner de título"/>
          <p:cNvSpPr/>
          <p:nvPr/>
        </p:nvSpPr>
        <p:spPr>
          <a:xfrm>
            <a:off x="1097280" y="3017520"/>
            <a:ext cx="15819120" cy="1920240"/>
          </a:xfrm>
          <a:prstGeom prst="roundRect">
            <a:avLst>
              <a:gd name="adj" fmla="val 9524"/>
            </a:avLst>
          </a:prstGeom>
          <a:solidFill>
            <a:srgbClr val="084B76"/>
          </a:solidFill>
          <a:ln w="12700">
            <a:solidFill>
              <a:srgbClr val="084B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1463040" y="3200400"/>
            <a:ext cx="1252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· Digitalización y Almacenamiento de Información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1463040" y="4114800"/>
            <a:ext cx="1252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000" dirty="0">
                <a:solidFill>
                  <a:srgbClr val="CF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Guevara   |   Docente: [nombre del docente]   |   Actor externo: [entidad aliada]</a:t>
            </a:r>
          </a:p>
        </p:txBody>
      </p:sp>
      <p:sp>
        <p:nvSpPr>
          <p:cNvPr id="6" name="Fondo logo"/>
          <p:cNvSpPr/>
          <p:nvPr/>
        </p:nvSpPr>
        <p:spPr>
          <a:xfrm>
            <a:off x="14173200" y="3200400"/>
            <a:ext cx="24688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Conecta con la Universidad del futur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18920" y="3291840"/>
            <a:ext cx="2377440" cy="1371600"/>
          </a:xfrm>
          <a:prstGeom prst="rect">
            <a:avLst/>
          </a:prstGeom>
        </p:spPr>
      </p:pic>
      <p:sp>
        <p:nvSpPr>
          <p:cNvPr id="8" name="Campo Tipología de la experiencia"/>
          <p:cNvSpPr/>
          <p:nvPr/>
        </p:nvSpPr>
        <p:spPr>
          <a:xfrm>
            <a:off x="1097280" y="5120640"/>
            <a:ext cx="3383280" cy="1143000"/>
          </a:xfrm>
          <a:prstGeom prst="roundRect">
            <a:avLst>
              <a:gd name="adj" fmla="val 9600"/>
            </a:avLst>
          </a:prstGeom>
          <a:solidFill>
            <a:srgbClr val="E8F5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 txBox="1"/>
          <p:nvPr/>
        </p:nvSpPr>
        <p:spPr>
          <a:xfrm>
            <a:off x="128016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 de la experiencia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5532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    ☐ PIC    ☐ Reto</a:t>
            </a:r>
            <a:endParaRPr lang="en-US" sz="1600" dirty="0"/>
          </a:p>
        </p:txBody>
      </p:sp>
      <p:sp>
        <p:nvSpPr>
          <p:cNvPr id="11" name="Campo Programa(s) académico(s)"/>
          <p:cNvSpPr/>
          <p:nvPr/>
        </p:nvSpPr>
        <p:spPr>
          <a:xfrm>
            <a:off x="4617720" y="512064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E8F5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 txBox="1"/>
          <p:nvPr/>
        </p:nvSpPr>
        <p:spPr>
          <a:xfrm>
            <a:off x="4800600" y="5212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4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Programa(s) académico(s)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</a:p>
        </p:txBody>
      </p:sp>
      <p:sp>
        <p:nvSpPr>
          <p:cNvPr id="14" name="Campo Curso(s)"/>
          <p:cNvSpPr/>
          <p:nvPr/>
        </p:nvSpPr>
        <p:spPr>
          <a:xfrm>
            <a:off x="8321040" y="512064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E8F5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 txBox="1"/>
          <p:nvPr/>
        </p:nvSpPr>
        <p:spPr>
          <a:xfrm>
            <a:off x="8503920" y="5212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4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Curso(s)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5532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curso]</a:t>
            </a:r>
          </a:p>
        </p:txBody>
      </p:sp>
      <p:sp>
        <p:nvSpPr>
          <p:cNvPr id="17" name="Campo Actores externos vinculados"/>
          <p:cNvSpPr/>
          <p:nvPr/>
        </p:nvSpPr>
        <p:spPr>
          <a:xfrm>
            <a:off x="11567160" y="512064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E8F5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 txBox="1"/>
          <p:nvPr/>
        </p:nvSpPr>
        <p:spPr>
          <a:xfrm>
            <a:off x="11750040" y="5212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4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externos vinculados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750040" y="5532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[Empresa, comunidad o entidad]</a:t>
            </a:r>
          </a:p>
        </p:txBody>
      </p:sp>
      <p:sp>
        <p:nvSpPr>
          <p:cNvPr id="20" name="Campo Año"/>
          <p:cNvSpPr/>
          <p:nvPr/>
        </p:nvSpPr>
        <p:spPr>
          <a:xfrm>
            <a:off x="15636240" y="5120640"/>
            <a:ext cx="1280160" cy="1143000"/>
          </a:xfrm>
          <a:prstGeom prst="roundRect">
            <a:avLst>
              <a:gd name="adj" fmla="val 9600"/>
            </a:avLst>
          </a:prstGeom>
          <a:solidFill>
            <a:srgbClr val="E8F5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 txBox="1"/>
          <p:nvPr/>
        </p:nvSpPr>
        <p:spPr>
          <a:xfrm>
            <a:off x="15819120" y="5212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4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5819120" y="5532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23" name="Tarjeta Problema u oportunidad"/>
          <p:cNvSpPr/>
          <p:nvPr/>
        </p:nvSpPr>
        <p:spPr>
          <a:xfrm>
            <a:off x="1097280" y="6858000"/>
            <a:ext cx="7818120" cy="2194560"/>
          </a:xfrm>
          <a:prstGeom prst="roundRect">
            <a:avLst>
              <a:gd name="adj" fmla="val 6250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Encabezado Problema u oportunidad"/>
          <p:cNvSpPr/>
          <p:nvPr/>
        </p:nvSpPr>
        <p:spPr>
          <a:xfrm>
            <a:off x="1097280" y="6492240"/>
            <a:ext cx="7818120" cy="731520"/>
          </a:xfrm>
          <a:prstGeom prst="roundRect">
            <a:avLst>
              <a:gd name="adj" fmla="val 18750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Número 1"/>
          <p:cNvSpPr/>
          <p:nvPr/>
        </p:nvSpPr>
        <p:spPr>
          <a:xfrm>
            <a:off x="1261872" y="66202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 txBox="1"/>
          <p:nvPr/>
        </p:nvSpPr>
        <p:spPr>
          <a:xfrm>
            <a:off x="1261872" y="6620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1874520" y="6492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u oportunidad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1325880" y="7296912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u oportunidad abordamos?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7772400"/>
            <a:ext cx="7360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en papel o PDF dispersos, sin control de acceso ni trazabilidad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legal, auditoría, finanzas y talento humano manejan datos sensibles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Perder, alterar o filtrar un documento implica riesgo legal y de cumplimiento</a:t>
            </a:r>
          </a:p>
        </p:txBody>
      </p:sp>
      <p:sp>
        <p:nvSpPr>
          <p:cNvPr id="30" name="Tarjeta Pregunta orientadora o reto"/>
          <p:cNvSpPr/>
          <p:nvPr/>
        </p:nvSpPr>
        <p:spPr>
          <a:xfrm>
            <a:off x="9098280" y="6858000"/>
            <a:ext cx="7818120" cy="2194560"/>
          </a:xfrm>
          <a:prstGeom prst="roundRect">
            <a:avLst>
              <a:gd name="adj" fmla="val 6250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Encabezado Pregunta orientadora o reto"/>
          <p:cNvSpPr/>
          <p:nvPr/>
        </p:nvSpPr>
        <p:spPr>
          <a:xfrm>
            <a:off x="9098280" y="6492240"/>
            <a:ext cx="7818120" cy="731520"/>
          </a:xfrm>
          <a:prstGeom prst="roundRect">
            <a:avLst>
              <a:gd name="adj" fmla="val 18750"/>
            </a:avLst>
          </a:prstGeom>
          <a:solidFill>
            <a:srgbClr val="0B7EA8"/>
          </a:solidFill>
          <a:ln w="12700">
            <a:solidFill>
              <a:srgbClr val="0B7E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Número 2"/>
          <p:cNvSpPr/>
          <p:nvPr/>
        </p:nvSpPr>
        <p:spPr>
          <a:xfrm>
            <a:off x="9262872" y="66202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 txBox="1"/>
          <p:nvPr/>
        </p:nvSpPr>
        <p:spPr>
          <a:xfrm>
            <a:off x="9262872" y="6620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9875520" y="6492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orientadora o reto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9326880" y="7296912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nos propusimos lograr?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326880" y="7772400"/>
            <a:ext cx="7360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b="1"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Reto: </a:t>
            </a: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digitalizar y centralizar documentos garantizando seguridad, integridad y búsqueda rápida?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b="1"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Objetivo: </a:t>
            </a:r>
            <a:r>
              <a:rPr lang="es-CO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que digitaliza PDF, indexa su texto y controla el acceso por rol y nivel de confidencialidad.</a:t>
            </a:r>
          </a:p>
        </p:txBody>
      </p:sp>
      <p:sp>
        <p:nvSpPr>
          <p:cNvPr id="37" name="Tarjeta Ruta de trabajo o enfoque utilizado"/>
          <p:cNvSpPr/>
          <p:nvPr/>
        </p:nvSpPr>
        <p:spPr>
          <a:xfrm>
            <a:off x="1097280" y="9601200"/>
            <a:ext cx="15819120" cy="2011680"/>
          </a:xfrm>
          <a:prstGeom prst="roundRect">
            <a:avLst>
              <a:gd name="adj" fmla="val 6818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Encabezado Ruta de trabajo o enfoque utilizado"/>
          <p:cNvSpPr/>
          <p:nvPr/>
        </p:nvSpPr>
        <p:spPr>
          <a:xfrm>
            <a:off x="1097280" y="9235440"/>
            <a:ext cx="15819120" cy="731520"/>
          </a:xfrm>
          <a:prstGeom prst="roundRect">
            <a:avLst>
              <a:gd name="adj" fmla="val 18750"/>
            </a:avLst>
          </a:prstGeom>
          <a:solidFill>
            <a:srgbClr val="084B76"/>
          </a:solidFill>
          <a:ln w="12700">
            <a:solidFill>
              <a:srgbClr val="084B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Número 3"/>
          <p:cNvSpPr/>
          <p:nvPr/>
        </p:nvSpPr>
        <p:spPr>
          <a:xfrm>
            <a:off x="1261872" y="93634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 txBox="1"/>
          <p:nvPr/>
        </p:nvSpPr>
        <p:spPr>
          <a:xfrm>
            <a:off x="1261872" y="9363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4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1874520" y="9235440"/>
            <a:ext cx="1485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trabajo o enfoque utilizado</a:t>
            </a:r>
            <a:endParaRPr lang="en-US" sz="2400" dirty="0"/>
          </a:p>
        </p:txBody>
      </p:sp>
      <p:sp>
        <p:nvSpPr>
          <p:cNvPr id="42" name="Text 39"/>
          <p:cNvSpPr txBox="1"/>
          <p:nvPr/>
        </p:nvSpPr>
        <p:spPr>
          <a:xfrm>
            <a:off x="1325880" y="10040112"/>
            <a:ext cx="1536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i="1" dirty="0">
                <a:solidFill>
                  <a:srgbClr val="084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ágil e incremental en 7 fases (0 a 6): cada fase se integra por pull request con pruebas automáticas y verificación manual contra la API.</a:t>
            </a:r>
          </a:p>
        </p:txBody>
      </p:sp>
      <p:sp>
        <p:nvSpPr>
          <p:cNvPr id="43" name="Etapa 1"/>
          <p:cNvSpPr/>
          <p:nvPr/>
        </p:nvSpPr>
        <p:spPr>
          <a:xfrm>
            <a:off x="1325880" y="10652760"/>
            <a:ext cx="296265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1"/>
          <p:cNvSpPr/>
          <p:nvPr/>
        </p:nvSpPr>
        <p:spPr>
          <a:xfrm>
            <a:off x="1435608" y="10835640"/>
            <a:ext cx="457200" cy="45720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2"/>
          <p:cNvSpPr txBox="1"/>
          <p:nvPr/>
        </p:nvSpPr>
        <p:spPr>
          <a:xfrm>
            <a:off x="1435608" y="10835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2011680" y="106527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50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segura</a:t>
            </a:r>
          </a:p>
          <a:p>
            <a:pPr marL="0" indent="0">
              <a:buNone/>
            </a:pPr>
            <a:r>
              <a:rPr b="0"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Express + PostgreSQL</a:t>
            </a:r>
          </a:p>
        </p:txBody>
      </p:sp>
      <p:sp>
        <p:nvSpPr>
          <p:cNvPr id="47" name="Etapa 2"/>
          <p:cNvSpPr/>
          <p:nvPr/>
        </p:nvSpPr>
        <p:spPr>
          <a:xfrm>
            <a:off x="4425696" y="10652760"/>
            <a:ext cx="296265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B7E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5"/>
          <p:cNvSpPr/>
          <p:nvPr/>
        </p:nvSpPr>
        <p:spPr>
          <a:xfrm>
            <a:off x="4535424" y="10835640"/>
            <a:ext cx="457200" cy="457200"/>
          </a:xfrm>
          <a:prstGeom prst="ellipse">
            <a:avLst/>
          </a:prstGeom>
          <a:solidFill>
            <a:srgbClr val="0B7EA8"/>
          </a:solidFill>
          <a:ln w="12700">
            <a:solidFill>
              <a:srgbClr val="0B7E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6"/>
          <p:cNvSpPr txBox="1"/>
          <p:nvPr/>
        </p:nvSpPr>
        <p:spPr>
          <a:xfrm>
            <a:off x="4535424" y="10835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5111496" y="106527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500" dirty="0">
                <a:solidFill>
                  <a:srgbClr val="0B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</a:t>
            </a:r>
          </a:p>
          <a:p>
            <a:pPr marL="0" indent="0">
              <a:buNone/>
            </a:pPr>
            <a:r>
              <a:rPr b="0"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PDF, visor e integridad</a:t>
            </a:r>
          </a:p>
        </p:txBody>
      </p:sp>
      <p:sp>
        <p:nvSpPr>
          <p:cNvPr id="51" name="Etapa 3"/>
          <p:cNvSpPr/>
          <p:nvPr/>
        </p:nvSpPr>
        <p:spPr>
          <a:xfrm>
            <a:off x="7525512" y="10652760"/>
            <a:ext cx="296265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84B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49"/>
          <p:cNvSpPr/>
          <p:nvPr/>
        </p:nvSpPr>
        <p:spPr>
          <a:xfrm>
            <a:off x="7635240" y="10835640"/>
            <a:ext cx="457200" cy="457200"/>
          </a:xfrm>
          <a:prstGeom prst="ellipse">
            <a:avLst/>
          </a:prstGeom>
          <a:solidFill>
            <a:srgbClr val="084B76"/>
          </a:solidFill>
          <a:ln w="12700">
            <a:solidFill>
              <a:srgbClr val="084B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0"/>
          <p:cNvSpPr txBox="1"/>
          <p:nvPr/>
        </p:nvSpPr>
        <p:spPr>
          <a:xfrm>
            <a:off x="7635240" y="10835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4" name="Text 51"/>
          <p:cNvSpPr txBox="1"/>
          <p:nvPr/>
        </p:nvSpPr>
        <p:spPr>
          <a:xfrm>
            <a:off x="8211312" y="106527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500" dirty="0">
                <a:solidFill>
                  <a:srgbClr val="084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</a:p>
          <a:p>
            <a:pPr marL="0" indent="0">
              <a:buNone/>
            </a:pPr>
            <a:r>
              <a:rPr b="0"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extraído e indexado por página</a:t>
            </a:r>
          </a:p>
        </p:txBody>
      </p:sp>
      <p:sp>
        <p:nvSpPr>
          <p:cNvPr id="55" name="Etapa 4"/>
          <p:cNvSpPr/>
          <p:nvPr/>
        </p:nvSpPr>
        <p:spPr>
          <a:xfrm>
            <a:off x="10625328" y="10652760"/>
            <a:ext cx="296265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09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3"/>
          <p:cNvSpPr/>
          <p:nvPr/>
        </p:nvSpPr>
        <p:spPr>
          <a:xfrm>
            <a:off x="10735056" y="10835640"/>
            <a:ext cx="457200" cy="457200"/>
          </a:xfrm>
          <a:prstGeom prst="ellipse">
            <a:avLst/>
          </a:prstGeom>
          <a:solidFill>
            <a:srgbClr val="009B8A"/>
          </a:solidFill>
          <a:ln w="12700">
            <a:solidFill>
              <a:srgbClr val="009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4"/>
          <p:cNvSpPr txBox="1"/>
          <p:nvPr/>
        </p:nvSpPr>
        <p:spPr>
          <a:xfrm>
            <a:off x="10735056" y="10835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8" name="Text 55"/>
          <p:cNvSpPr txBox="1"/>
          <p:nvPr/>
        </p:nvSpPr>
        <p:spPr>
          <a:xfrm>
            <a:off x="11311128" y="106527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50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</a:p>
          <a:p>
            <a:pPr marL="0" indent="0">
              <a:buNone/>
            </a:pPr>
            <a:r>
              <a:rPr b="0"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TOTP, roles, niveles y auditoría</a:t>
            </a:r>
          </a:p>
        </p:txBody>
      </p:sp>
      <p:sp>
        <p:nvSpPr>
          <p:cNvPr id="59" name="Etapa 5"/>
          <p:cNvSpPr/>
          <p:nvPr/>
        </p:nvSpPr>
        <p:spPr>
          <a:xfrm>
            <a:off x="13725144" y="10652760"/>
            <a:ext cx="296265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7243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Shape 57"/>
          <p:cNvSpPr/>
          <p:nvPr/>
        </p:nvSpPr>
        <p:spPr>
          <a:xfrm>
            <a:off x="13834872" y="10835640"/>
            <a:ext cx="457200" cy="457200"/>
          </a:xfrm>
          <a:prstGeom prst="ellipse">
            <a:avLst/>
          </a:prstGeom>
          <a:solidFill>
            <a:srgbClr val="7243A3"/>
          </a:solidFill>
          <a:ln w="12700">
            <a:solidFill>
              <a:srgbClr val="7243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8"/>
          <p:cNvSpPr txBox="1"/>
          <p:nvPr/>
        </p:nvSpPr>
        <p:spPr>
          <a:xfrm>
            <a:off x="13834872" y="10835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2" name="Text 59"/>
          <p:cNvSpPr txBox="1"/>
          <p:nvPr/>
        </p:nvSpPr>
        <p:spPr>
          <a:xfrm>
            <a:off x="14410944" y="106527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500" dirty="0">
                <a:solidFill>
                  <a:srgbClr val="724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</a:p>
          <a:p>
            <a:pPr marL="0" indent="0">
              <a:buNone/>
            </a:pPr>
            <a:r>
              <a:rPr b="0"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Versiones, papelera y carpetas</a:t>
            </a:r>
          </a:p>
        </p:txBody>
      </p:sp>
      <p:sp>
        <p:nvSpPr>
          <p:cNvPr id="63" name="Tarjeta Solución desarrollada"/>
          <p:cNvSpPr/>
          <p:nvPr/>
        </p:nvSpPr>
        <p:spPr>
          <a:xfrm>
            <a:off x="1097280" y="12161520"/>
            <a:ext cx="10058400" cy="5120640"/>
          </a:xfrm>
          <a:prstGeom prst="roundRect">
            <a:avLst>
              <a:gd name="adj" fmla="val 2679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Encabezado Solución desarrollada"/>
          <p:cNvSpPr/>
          <p:nvPr/>
        </p:nvSpPr>
        <p:spPr>
          <a:xfrm>
            <a:off x="1097280" y="11795760"/>
            <a:ext cx="10058400" cy="731520"/>
          </a:xfrm>
          <a:prstGeom prst="roundRect">
            <a:avLst>
              <a:gd name="adj" fmla="val 18750"/>
            </a:avLst>
          </a:prstGeom>
          <a:solidFill>
            <a:srgbClr val="009B8A"/>
          </a:solidFill>
          <a:ln w="12700">
            <a:solidFill>
              <a:srgbClr val="009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Número 4"/>
          <p:cNvSpPr/>
          <p:nvPr/>
        </p:nvSpPr>
        <p:spPr>
          <a:xfrm>
            <a:off x="1261872" y="1192377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3"/>
          <p:cNvSpPr txBox="1"/>
          <p:nvPr/>
        </p:nvSpPr>
        <p:spPr>
          <a:xfrm>
            <a:off x="1261872" y="11923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7" name="Text 64"/>
          <p:cNvSpPr txBox="1"/>
          <p:nvPr/>
        </p:nvSpPr>
        <p:spPr>
          <a:xfrm>
            <a:off x="1874520" y="11795760"/>
            <a:ext cx="9098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desarrollada</a:t>
            </a:r>
            <a:endParaRPr lang="en-US" sz="2400" dirty="0"/>
          </a:p>
        </p:txBody>
      </p:sp>
      <p:sp>
        <p:nvSpPr>
          <p:cNvPr id="68" name="Text 65"/>
          <p:cNvSpPr txBox="1"/>
          <p:nvPr/>
        </p:nvSpPr>
        <p:spPr>
          <a:xfrm>
            <a:off x="1325880" y="126004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construyeron los estudiantes? Producto, prototipo, intervención, estrategia, servicio o modelo.</a:t>
            </a:r>
            <a:endParaRPr lang="en-US" sz="1600" dirty="0"/>
          </a:p>
        </p:txBody>
      </p:sp>
      <p:sp>
        <p:nvSpPr>
          <p:cNvPr id="69" name="Espacio de imagen"/>
          <p:cNvSpPr/>
          <p:nvPr/>
        </p:nvSpPr>
        <p:spPr>
          <a:xfrm>
            <a:off x="1325880" y="13075920"/>
            <a:ext cx="6492240" cy="3566160"/>
          </a:xfrm>
          <a:prstGeom prst="roundRect">
            <a:avLst>
              <a:gd name="adj" fmla="val 3077"/>
            </a:avLst>
          </a:prstGeom>
          <a:solidFill>
            <a:srgbClr val="EEF5F9"/>
          </a:solidFill>
          <a:ln w="19050">
            <a:solidFill>
              <a:srgbClr val="9DB8C9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71" name="Espacio de imagen"/>
          <p:cNvSpPr/>
          <p:nvPr/>
        </p:nvSpPr>
        <p:spPr>
          <a:xfrm>
            <a:off x="8001000" y="1307592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EF5F9"/>
          </a:solidFill>
          <a:ln w="19050">
            <a:solidFill>
              <a:srgbClr val="9DB8C9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73" name="Espacio de imagen"/>
          <p:cNvSpPr/>
          <p:nvPr/>
        </p:nvSpPr>
        <p:spPr>
          <a:xfrm>
            <a:off x="8001000" y="1490472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EF5F9"/>
          </a:solidFill>
          <a:ln w="19050">
            <a:solidFill>
              <a:srgbClr val="9DB8C9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pic>
        <p:nvPicPr>
          <p:cNvPr id="900" name="Captura Dashboard DAI" descr="Dashboard de DAI con cifras reales por nivel de acces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5880" y="13075920"/>
            <a:ext cx="6492240" cy="3566160"/>
          </a:xfrm>
          <a:prstGeom prst="roundRect">
            <a:avLst>
              <a:gd name="adj" fmla="val 3077"/>
            </a:avLst>
          </a:prstGeom>
          <a:ln w="12700">
            <a:solidFill>
              <a:srgbClr val="9DB8C9"/>
            </a:solidFill>
          </a:ln>
        </p:spPr>
      </p:pic>
      <p:pic>
        <p:nvPicPr>
          <p:cNvPr id="901" name="Captura Búsqueda DAI" descr="Búsqueda de texto completo dentro de los PD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13075920"/>
            <a:ext cx="2926080" cy="1737360"/>
          </a:xfrm>
          <a:prstGeom prst="roundRect">
            <a:avLst>
              <a:gd name="adj" fmla="val 3077"/>
            </a:avLst>
          </a:prstGeom>
          <a:ln w="12700">
            <a:solidFill>
              <a:srgbClr val="9DB8C9"/>
            </a:solidFill>
          </a:ln>
        </p:spPr>
      </p:pic>
      <p:pic>
        <p:nvPicPr>
          <p:cNvPr id="902" name="Captura Login DAI" descr="Inicio de sesión con verificación en dos paso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14904720"/>
            <a:ext cx="2926080" cy="1737360"/>
          </a:xfrm>
          <a:prstGeom prst="roundRect">
            <a:avLst>
              <a:gd name="adj" fmla="val 3077"/>
            </a:avLst>
          </a:prstGeom>
          <a:ln w="12700">
            <a:solidFill>
              <a:srgbClr val="9DB8C9"/>
            </a:solidFill>
          </a:ln>
        </p:spPr>
      </p:pic>
      <p:sp>
        <p:nvSpPr>
          <p:cNvPr id="950" name="Pie 950"/>
          <p:cNvSpPr txBox="1"/>
          <p:nvPr/>
        </p:nvSpPr>
        <p:spPr>
          <a:xfrm>
            <a:off x="1325880" y="16354080"/>
            <a:ext cx="6492240" cy="288000"/>
          </a:xfrm>
          <a:prstGeom prst="rect">
            <a:avLst/>
          </a:prstGeom>
          <a:solidFill>
            <a:srgbClr val="0B4F7C">
              <a:alpha val="88000"/>
            </a:srgbClr>
          </a:solidFill>
          <a:ln>
            <a:noFill/>
          </a:ln>
        </p:spPr>
        <p:txBody>
          <a:bodyPr wrap="square" lIns="108000" tIns="0" rIns="72000" bIns="0" anchor="ctr"/>
          <a:lstStyle/>
          <a:p>
            <a:r>
              <a:rPr lang="es-CO" sz="1300" b="1">
                <a:solidFill>
                  <a:srgbClr val="FFFFFF"/>
                </a:solidFill>
                <a:latin typeface="Calibri"/>
              </a:rPr>
              <a:t>Dashboard con cifras reales</a:t>
            </a:r>
          </a:p>
        </p:txBody>
      </p:sp>
      <p:sp>
        <p:nvSpPr>
          <p:cNvPr id="951" name="Pie 951"/>
          <p:cNvSpPr txBox="1"/>
          <p:nvPr/>
        </p:nvSpPr>
        <p:spPr>
          <a:xfrm>
            <a:off x="8001000" y="14525280"/>
            <a:ext cx="2926080" cy="288000"/>
          </a:xfrm>
          <a:prstGeom prst="rect">
            <a:avLst/>
          </a:prstGeom>
          <a:solidFill>
            <a:srgbClr val="0B4F7C">
              <a:alpha val="88000"/>
            </a:srgbClr>
          </a:solidFill>
          <a:ln>
            <a:noFill/>
          </a:ln>
        </p:spPr>
        <p:txBody>
          <a:bodyPr wrap="square" lIns="108000" tIns="0" rIns="72000" bIns="0" anchor="ctr"/>
          <a:lstStyle/>
          <a:p>
            <a:r>
              <a:rPr lang="es-CO" sz="1300" b="1">
                <a:solidFill>
                  <a:srgbClr val="FFFFFF"/>
                </a:solidFill>
                <a:latin typeface="Calibri"/>
              </a:rPr>
              <a:t>Búsqueda dentro de los PDF</a:t>
            </a:r>
          </a:p>
        </p:txBody>
      </p:sp>
      <p:sp>
        <p:nvSpPr>
          <p:cNvPr id="952" name="Pie 952"/>
          <p:cNvSpPr txBox="1"/>
          <p:nvPr/>
        </p:nvSpPr>
        <p:spPr>
          <a:xfrm>
            <a:off x="8001000" y="16354080"/>
            <a:ext cx="2926080" cy="288000"/>
          </a:xfrm>
          <a:prstGeom prst="rect">
            <a:avLst/>
          </a:prstGeom>
          <a:solidFill>
            <a:srgbClr val="0B4F7C">
              <a:alpha val="88000"/>
            </a:srgbClr>
          </a:solidFill>
          <a:ln>
            <a:noFill/>
          </a:ln>
        </p:spPr>
        <p:txBody>
          <a:bodyPr wrap="square" lIns="108000" tIns="0" rIns="72000" bIns="0" anchor="ctr"/>
          <a:lstStyle/>
          <a:p>
            <a:r>
              <a:rPr lang="es-CO" sz="1300" b="1">
                <a:solidFill>
                  <a:srgbClr val="FFFFFF"/>
                </a:solidFill>
                <a:latin typeface="Calibri"/>
              </a:rPr>
              <a:t>Ingreso con 2FA (TOTP)</a:t>
            </a:r>
          </a:p>
        </p:txBody>
      </p:sp>
      <p:sp>
        <p:nvSpPr>
          <p:cNvPr id="75" name="Text 72"/>
          <p:cNvSpPr txBox="1"/>
          <p:nvPr/>
        </p:nvSpPr>
        <p:spPr>
          <a:xfrm>
            <a:off x="1325880" y="16650000"/>
            <a:ext cx="9601200" cy="5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</a:t>
            </a: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es una aplicación web (Angular 22 + Node/Express + PostgreSQL) para digitalizar, indexar, buscar y custodiar documentos con control de acceso por rol, 2FA y auditoría completa.</a:t>
            </a:r>
          </a:p>
        </p:txBody>
      </p:sp>
      <p:sp>
        <p:nvSpPr>
          <p:cNvPr id="76" name="Tarjeta Resultados principales"/>
          <p:cNvSpPr/>
          <p:nvPr/>
        </p:nvSpPr>
        <p:spPr>
          <a:xfrm>
            <a:off x="11338560" y="12161520"/>
            <a:ext cx="5577840" cy="5120640"/>
          </a:xfrm>
          <a:prstGeom prst="roundRect">
            <a:avLst>
              <a:gd name="adj" fmla="val 2679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Encabezado Resultados principales"/>
          <p:cNvSpPr/>
          <p:nvPr/>
        </p:nvSpPr>
        <p:spPr>
          <a:xfrm>
            <a:off x="11338560" y="11795760"/>
            <a:ext cx="5577840" cy="731520"/>
          </a:xfrm>
          <a:prstGeom prst="roundRect">
            <a:avLst>
              <a:gd name="adj" fmla="val 18750"/>
            </a:avLst>
          </a:prstGeom>
          <a:solidFill>
            <a:srgbClr val="0B7EA8"/>
          </a:solidFill>
          <a:ln w="12700">
            <a:solidFill>
              <a:srgbClr val="0B7E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Número 5"/>
          <p:cNvSpPr/>
          <p:nvPr/>
        </p:nvSpPr>
        <p:spPr>
          <a:xfrm>
            <a:off x="11503152" y="1192377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9" name="Text 76"/>
          <p:cNvSpPr txBox="1"/>
          <p:nvPr/>
        </p:nvSpPr>
        <p:spPr>
          <a:xfrm>
            <a:off x="11503152" y="11923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0" name="Text 77"/>
          <p:cNvSpPr txBox="1"/>
          <p:nvPr/>
        </p:nvSpPr>
        <p:spPr>
          <a:xfrm>
            <a:off x="12115800" y="11795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principales</a:t>
            </a:r>
            <a:endParaRPr lang="en-US" sz="2400" dirty="0"/>
          </a:p>
        </p:txBody>
      </p:sp>
      <p:sp>
        <p:nvSpPr>
          <p:cNvPr id="81" name="Dato Resultado o indicador 1"/>
          <p:cNvSpPr/>
          <p:nvPr/>
        </p:nvSpPr>
        <p:spPr>
          <a:xfrm>
            <a:off x="11521440" y="127101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2" name="Text 79"/>
          <p:cNvSpPr txBox="1"/>
          <p:nvPr/>
        </p:nvSpPr>
        <p:spPr>
          <a:xfrm>
            <a:off x="11658600" y="1271016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4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</a:p>
        </p:txBody>
      </p:sp>
      <p:sp>
        <p:nvSpPr>
          <p:cNvPr id="83" name="Text 80"/>
          <p:cNvSpPr txBox="1"/>
          <p:nvPr/>
        </p:nvSpPr>
        <p:spPr>
          <a:xfrm>
            <a:off x="13304520" y="1271016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600" dirty="0">
                <a:solidFill>
                  <a:srgbClr val="1F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en verde</a:t>
            </a:r>
          </a:p>
          <a:p>
            <a:pPr marL="0" indent="0">
              <a:buNone/>
            </a:pPr>
            <a:r>
              <a:rPr lang="es-CO" sz="1600" dirty="0">
                <a:solidFill>
                  <a:srgbClr val="1F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API · 127 Angular</a:t>
            </a:r>
          </a:p>
        </p:txBody>
      </p:sp>
      <p:sp>
        <p:nvSpPr>
          <p:cNvPr id="84" name="Dato Resultado o indicador 2"/>
          <p:cNvSpPr/>
          <p:nvPr/>
        </p:nvSpPr>
        <p:spPr>
          <a:xfrm>
            <a:off x="11521440" y="142646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0B7E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5" name="Text 82"/>
          <p:cNvSpPr txBox="1"/>
          <p:nvPr/>
        </p:nvSpPr>
        <p:spPr>
          <a:xfrm>
            <a:off x="11658600" y="1426464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4000" b="1" dirty="0">
                <a:solidFill>
                  <a:srgbClr val="0B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  <p:sp>
        <p:nvSpPr>
          <p:cNvPr id="86" name="Text 83"/>
          <p:cNvSpPr txBox="1"/>
          <p:nvPr/>
        </p:nvSpPr>
        <p:spPr>
          <a:xfrm>
            <a:off x="13304520" y="1426464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600" dirty="0">
                <a:solidFill>
                  <a:srgbClr val="1F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funcionales</a:t>
            </a:r>
          </a:p>
          <a:p>
            <a:pPr marL="0" indent="0">
              <a:buNone/>
            </a:pPr>
            <a:r>
              <a:rPr lang="es-CO" sz="1600" dirty="0">
                <a:solidFill>
                  <a:srgbClr val="1F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reales, sin maquetas</a:t>
            </a:r>
          </a:p>
        </p:txBody>
      </p:sp>
      <p:sp>
        <p:nvSpPr>
          <p:cNvPr id="87" name="Dato Resultado o indicador 3"/>
          <p:cNvSpPr/>
          <p:nvPr/>
        </p:nvSpPr>
        <p:spPr>
          <a:xfrm>
            <a:off x="11521440" y="1581912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9050">
            <a:solidFill>
              <a:srgbClr val="009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8" name="Text 85"/>
          <p:cNvSpPr txBox="1"/>
          <p:nvPr/>
        </p:nvSpPr>
        <p:spPr>
          <a:xfrm>
            <a:off x="11658600" y="1581912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4000" b="1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4×5</a:t>
            </a:r>
          </a:p>
        </p:txBody>
      </p:sp>
      <p:sp>
        <p:nvSpPr>
          <p:cNvPr id="89" name="Text 86"/>
          <p:cNvSpPr txBox="1"/>
          <p:nvPr/>
        </p:nvSpPr>
        <p:spPr>
          <a:xfrm>
            <a:off x="13304520" y="158191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lang="es-CO" sz="1600" dirty="0">
                <a:solidFill>
                  <a:srgbClr val="1F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× niveles de acceso</a:t>
            </a:r>
          </a:p>
          <a:p>
            <a:pPr marL="0" indent="0">
              <a:buNone/>
            </a:pPr>
            <a:r>
              <a:rPr lang="es-CO" sz="1600" dirty="0">
                <a:solidFill>
                  <a:srgbClr val="1F3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solo lo que le corresponde</a:t>
            </a:r>
          </a:p>
        </p:txBody>
      </p:sp>
      <p:sp>
        <p:nvSpPr>
          <p:cNvPr id="90" name="Tarjeta Validación y mejora"/>
          <p:cNvSpPr/>
          <p:nvPr/>
        </p:nvSpPr>
        <p:spPr>
          <a:xfrm>
            <a:off x="1097280" y="17830800"/>
            <a:ext cx="5151120" cy="2377440"/>
          </a:xfrm>
          <a:prstGeom prst="roundRect">
            <a:avLst>
              <a:gd name="adj" fmla="val 5769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1" name="Encabezado Validación y mejora"/>
          <p:cNvSpPr/>
          <p:nvPr/>
        </p:nvSpPr>
        <p:spPr>
          <a:xfrm>
            <a:off x="1097280" y="17465040"/>
            <a:ext cx="5151120" cy="731520"/>
          </a:xfrm>
          <a:prstGeom prst="roundRect">
            <a:avLst>
              <a:gd name="adj" fmla="val 18750"/>
            </a:avLst>
          </a:prstGeom>
          <a:solidFill>
            <a:srgbClr val="7243A3"/>
          </a:solidFill>
          <a:ln w="12700">
            <a:solidFill>
              <a:srgbClr val="7243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2" name="Número 6"/>
          <p:cNvSpPr/>
          <p:nvPr/>
        </p:nvSpPr>
        <p:spPr>
          <a:xfrm>
            <a:off x="1261872" y="175930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3" name="Text 90"/>
          <p:cNvSpPr txBox="1"/>
          <p:nvPr/>
        </p:nvSpPr>
        <p:spPr>
          <a:xfrm>
            <a:off x="1261872" y="17593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24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94" name="Text 91"/>
          <p:cNvSpPr txBox="1"/>
          <p:nvPr/>
        </p:nvSpPr>
        <p:spPr>
          <a:xfrm>
            <a:off x="1874520" y="17465040"/>
            <a:ext cx="419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mejora</a:t>
            </a:r>
            <a:endParaRPr lang="en-US" sz="2200" dirty="0"/>
          </a:p>
        </p:txBody>
      </p:sp>
      <p:sp>
        <p:nvSpPr>
          <p:cNvPr id="95" name="Text 92"/>
          <p:cNvSpPr txBox="1"/>
          <p:nvPr/>
        </p:nvSpPr>
        <p:spPr>
          <a:xfrm>
            <a:off x="1325880" y="18269712"/>
            <a:ext cx="469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24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validamos y mejoramos?</a:t>
            </a:r>
            <a:endParaRPr lang="en-US" sz="1600" dirty="0"/>
          </a:p>
        </p:txBody>
      </p:sp>
      <p:sp>
        <p:nvSpPr>
          <p:cNvPr id="96" name="Text 93"/>
          <p:cNvSpPr txBox="1"/>
          <p:nvPr/>
        </p:nvSpPr>
        <p:spPr>
          <a:xfrm>
            <a:off x="1325880" y="18745200"/>
            <a:ext cx="469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por fase sobre una base temporal y scripts de comprobación contra la API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Ajuste: se retiraron maquetas y datos inventados de las pantallas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pruebas pasan</a:t>
            </a:r>
          </a:p>
        </p:txBody>
      </p:sp>
      <p:sp>
        <p:nvSpPr>
          <p:cNvPr id="97" name="Tarjeta Aprendizajes e impacto"/>
          <p:cNvSpPr/>
          <p:nvPr/>
        </p:nvSpPr>
        <p:spPr>
          <a:xfrm>
            <a:off x="6431280" y="17830800"/>
            <a:ext cx="5151120" cy="2377440"/>
          </a:xfrm>
          <a:prstGeom prst="roundRect">
            <a:avLst>
              <a:gd name="adj" fmla="val 5769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8" name="Encabezado Aprendizajes e impacto"/>
          <p:cNvSpPr/>
          <p:nvPr/>
        </p:nvSpPr>
        <p:spPr>
          <a:xfrm>
            <a:off x="6431280" y="17465040"/>
            <a:ext cx="5151120" cy="731520"/>
          </a:xfrm>
          <a:prstGeom prst="roundRect">
            <a:avLst>
              <a:gd name="adj" fmla="val 18750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9" name="Número 7"/>
          <p:cNvSpPr/>
          <p:nvPr/>
        </p:nvSpPr>
        <p:spPr>
          <a:xfrm>
            <a:off x="6595872" y="175930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0" name="Text 97"/>
          <p:cNvSpPr txBox="1"/>
          <p:nvPr/>
        </p:nvSpPr>
        <p:spPr>
          <a:xfrm>
            <a:off x="6595872" y="17593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01" name="Text 98"/>
          <p:cNvSpPr txBox="1"/>
          <p:nvPr/>
        </p:nvSpPr>
        <p:spPr>
          <a:xfrm>
            <a:off x="7208520" y="17465040"/>
            <a:ext cx="419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e impacto</a:t>
            </a:r>
            <a:endParaRPr lang="en-US" sz="2200" dirty="0"/>
          </a:p>
        </p:txBody>
      </p:sp>
      <p:sp>
        <p:nvSpPr>
          <p:cNvPr id="102" name="Text 99"/>
          <p:cNvSpPr txBox="1"/>
          <p:nvPr/>
        </p:nvSpPr>
        <p:spPr>
          <a:xfrm>
            <a:off x="6659880" y="18269712"/>
            <a:ext cx="469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aprendimos y qué valor generamos?</a:t>
            </a:r>
            <a:endParaRPr lang="en-US" sz="1600" dirty="0"/>
          </a:p>
        </p:txBody>
      </p:sp>
      <p:sp>
        <p:nvSpPr>
          <p:cNvPr id="103" name="Text 100"/>
          <p:cNvSpPr txBox="1"/>
          <p:nvPr/>
        </p:nvSpPr>
        <p:spPr>
          <a:xfrm>
            <a:off x="6659880" y="18745200"/>
            <a:ext cx="469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seguridad (2FA, cifrado AES-256) y pruebas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 a equipos que custodian documentos sensibles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íntegra, trazable y fácil de encontrar</a:t>
            </a:r>
          </a:p>
        </p:txBody>
      </p:sp>
      <p:sp>
        <p:nvSpPr>
          <p:cNvPr id="104" name="Tarjeta Proyección"/>
          <p:cNvSpPr/>
          <p:nvPr/>
        </p:nvSpPr>
        <p:spPr>
          <a:xfrm>
            <a:off x="11765280" y="17830800"/>
            <a:ext cx="5151120" cy="2377440"/>
          </a:xfrm>
          <a:prstGeom prst="roundRect">
            <a:avLst>
              <a:gd name="adj" fmla="val 5769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5" name="Encabezado Proyección"/>
          <p:cNvSpPr/>
          <p:nvPr/>
        </p:nvSpPr>
        <p:spPr>
          <a:xfrm>
            <a:off x="11765280" y="17465040"/>
            <a:ext cx="5151120" cy="731520"/>
          </a:xfrm>
          <a:prstGeom prst="roundRect">
            <a:avLst>
              <a:gd name="adj" fmla="val 18750"/>
            </a:avLst>
          </a:prstGeom>
          <a:solidFill>
            <a:srgbClr val="0B7EA8"/>
          </a:solidFill>
          <a:ln w="12700">
            <a:solidFill>
              <a:srgbClr val="0B7E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6" name="Número 8"/>
          <p:cNvSpPr/>
          <p:nvPr/>
        </p:nvSpPr>
        <p:spPr>
          <a:xfrm>
            <a:off x="11929872" y="1759305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7" name="Text 104"/>
          <p:cNvSpPr txBox="1"/>
          <p:nvPr/>
        </p:nvSpPr>
        <p:spPr>
          <a:xfrm>
            <a:off x="11929872" y="17593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08" name="Text 105"/>
          <p:cNvSpPr txBox="1"/>
          <p:nvPr/>
        </p:nvSpPr>
        <p:spPr>
          <a:xfrm>
            <a:off x="12542520" y="17465040"/>
            <a:ext cx="419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2200" dirty="0"/>
          </a:p>
        </p:txBody>
      </p:sp>
      <p:sp>
        <p:nvSpPr>
          <p:cNvPr id="109" name="Text 106"/>
          <p:cNvSpPr txBox="1"/>
          <p:nvPr/>
        </p:nvSpPr>
        <p:spPr>
          <a:xfrm>
            <a:off x="11993880" y="18269712"/>
            <a:ext cx="469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sigue?</a:t>
            </a:r>
            <a:endParaRPr lang="en-US" sz="1600" dirty="0"/>
          </a:p>
        </p:txBody>
      </p:sp>
      <p:sp>
        <p:nvSpPr>
          <p:cNvPr id="110" name="Text 107"/>
          <p:cNvSpPr txBox="1"/>
          <p:nvPr/>
        </p:nvSpPr>
        <p:spPr>
          <a:xfrm>
            <a:off x="11993880" y="18745200"/>
            <a:ext cx="469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Avance:  ☐ Idea   ☒ Prototipo   ☐ Piloto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 ☐ Implementar   ☒ Continuar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Transferir   ☐ Escalar</a:t>
            </a:r>
          </a:p>
          <a:p>
            <a:pPr marL="0" indent="0">
              <a:spcAft>
                <a:spcPts val="400"/>
              </a:spcAft>
              <a:buNone/>
            </a:pPr>
            <a:r>
              <a:rPr b="1"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Próximo: </a:t>
            </a:r>
            <a:r>
              <a:rPr lang="es-CO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 escaneos y piloto en la nube</a:t>
            </a:r>
          </a:p>
        </p:txBody>
      </p:sp>
      <p:sp>
        <p:nvSpPr>
          <p:cNvPr id="111" name="Conoce más"/>
          <p:cNvSpPr/>
          <p:nvPr/>
        </p:nvSpPr>
        <p:spPr>
          <a:xfrm>
            <a:off x="1097280" y="20391120"/>
            <a:ext cx="7315200" cy="2286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4" name="Text 111"/>
          <p:cNvSpPr txBox="1"/>
          <p:nvPr/>
        </p:nvSpPr>
        <p:spPr>
          <a:xfrm>
            <a:off x="1401645" y="20477988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724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VOTACIÓN</a:t>
            </a:r>
            <a:endParaRPr lang="en-US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r>
              <a:rPr lang="en-US" sz="16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200" b="1" dirty="0"/>
          </a:p>
        </p:txBody>
      </p:sp>
      <p:sp>
        <p:nvSpPr>
          <p:cNvPr id="115" name="Pie"/>
          <p:cNvSpPr/>
          <p:nvPr/>
        </p:nvSpPr>
        <p:spPr>
          <a:xfrm>
            <a:off x="8595360" y="20391120"/>
            <a:ext cx="8321040" cy="2286000"/>
          </a:xfrm>
          <a:prstGeom prst="roundRect">
            <a:avLst>
              <a:gd name="adj" fmla="val 6000"/>
            </a:avLst>
          </a:prstGeom>
          <a:solidFill>
            <a:srgbClr val="084B76"/>
          </a:solidFill>
          <a:ln w="12700">
            <a:solidFill>
              <a:srgbClr val="084B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6" name="Text 113"/>
          <p:cNvSpPr txBox="1"/>
          <p:nvPr/>
        </p:nvSpPr>
        <p:spPr>
          <a:xfrm>
            <a:off x="8869680" y="2039112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que transforma conocimiento en oportunidades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F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de la Innovación UCompensar 2026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3b2894e-347b-4e52-a8c4-385d10b2ffdd">
      <Terms xmlns="http://schemas.microsoft.com/office/infopath/2007/PartnerControls"/>
    </lcf76f155ced4ddcb4097134ff3c332f>
    <TaxCatchAll xmlns="becb9a92-69a3-4598-99ec-a5ce321b733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2888ED19C07E74AB91BAE9774B21E2E" ma:contentTypeVersion="16" ma:contentTypeDescription="Crear nuevo documento." ma:contentTypeScope="" ma:versionID="cdf1ee59fbac92922cc69e7a0da1cb93">
  <xsd:schema xmlns:xsd="http://www.w3.org/2001/XMLSchema" xmlns:xs="http://www.w3.org/2001/XMLSchema" xmlns:p="http://schemas.microsoft.com/office/2006/metadata/properties" xmlns:ns2="c3b2894e-347b-4e52-a8c4-385d10b2ffdd" xmlns:ns3="becb9a92-69a3-4598-99ec-a5ce321b7338" targetNamespace="http://schemas.microsoft.com/office/2006/metadata/properties" ma:root="true" ma:fieldsID="112afa173dd69bac4f170749c7da37e1" ns2:_="" ns3:_="">
    <xsd:import namespace="c3b2894e-347b-4e52-a8c4-385d10b2ffdd"/>
    <xsd:import namespace="becb9a92-69a3-4598-99ec-a5ce321b73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b2894e-347b-4e52-a8c4-385d10b2ff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1d21979f-4ff3-4765-882b-31f71102b2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cb9a92-69a3-4598-99ec-a5ce321b733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929adaf-77c6-4a86-9de3-ad11f4f39d3e}" ma:internalName="TaxCatchAll" ma:showField="CatchAllData" ma:web="becb9a92-69a3-4598-99ec-a5ce321b73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D6A34D-4D70-410C-95E3-EE4375489B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0677B7-21D8-4B0E-A592-BC807ACFE2B5}">
  <ds:schemaRefs>
    <ds:schemaRef ds:uri="http://schemas.microsoft.com/office/2006/metadata/properties"/>
    <ds:schemaRef ds:uri="http://schemas.microsoft.com/office/infopath/2007/PartnerControls"/>
    <ds:schemaRef ds:uri="c3b2894e-347b-4e52-a8c4-385d10b2ffdd"/>
    <ds:schemaRef ds:uri="becb9a92-69a3-4598-99ec-a5ce321b7338"/>
  </ds:schemaRefs>
</ds:datastoreItem>
</file>

<file path=customXml/itemProps3.xml><?xml version="1.0" encoding="utf-8"?>
<ds:datastoreItem xmlns:ds="http://schemas.openxmlformats.org/officeDocument/2006/customXml" ds:itemID="{4364FE04-55E7-4A44-B142-8F8DBB691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b2894e-347b-4e52-a8c4-385d10b2ffdd"/>
    <ds:schemaRef ds:uri="becb9a92-69a3-4598-99ec-a5ce321b73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330</Words>
  <Application>Microsoft Office PowerPoint</Application>
  <PresentationFormat>Custom</PresentationFormat>
  <Paragraphs>84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Póster SIE 2026 – PA, PIC y Retos – Propuesta A</dc:title>
  <dc:subject>PptxGenJS Presentation</dc:subject>
  <dc:creator>UCompensar</dc:creator>
  <cp:lastModifiedBy>Liliana Prada Guzman</cp:lastModifiedBy>
  <cp:revision>5</cp:revision>
  <dcterms:created xsi:type="dcterms:W3CDTF">2026-10-18T21:11:24Z</dcterms:created>
  <dcterms:modified xsi:type="dcterms:W3CDTF">2026-10-19T19:44:19Z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0x01010082888ED19C07E74AB91BAE9774B21E2E</vt:lpwstr>
  </property>
  <property fmtid="{D5CDD505-2E9C-101B-9397-08002B2CF9AE}" pid="3" name="MediaServiceImageTags">
    <vt:lpwstr/>
  </property>
</Properties>
</file>